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B955E-A464-46AE-9A6C-97CBD8B75EDD}" v="127" dt="2026-01-03T13:14:23.410"/>
    <p1510:client id="{E00A66C4-4ADB-4A93-B9CA-E0E359C9AC72}" v="527" dt="2026-01-02T11:42:00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03/01/2026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C6777B5-64F4-4200-B099-34168B69F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 descr="A quoi sert un registre de traitement des données ?">
            <a:extLst>
              <a:ext uri="{FF2B5EF4-FFF2-40B4-BE49-F238E27FC236}">
                <a16:creationId xmlns:a16="http://schemas.microsoft.com/office/drawing/2014/main" id="{00195AF9-8A45-FCF8-643D-4BBECE4D9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2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11" name="Rectangle 41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8350" cy="6038850"/>
          </a:xfrm>
          <a:custGeom>
            <a:avLst/>
            <a:gdLst>
              <a:gd name="connsiteX0" fmla="*/ 0 w 12192000"/>
              <a:gd name="connsiteY0" fmla="*/ 0 h 5835650"/>
              <a:gd name="connsiteX1" fmla="*/ 12192000 w 12192000"/>
              <a:gd name="connsiteY1" fmla="*/ 0 h 5835650"/>
              <a:gd name="connsiteX2" fmla="*/ 12192000 w 12192000"/>
              <a:gd name="connsiteY2" fmla="*/ 5835650 h 5835650"/>
              <a:gd name="connsiteX3" fmla="*/ 0 w 12192000"/>
              <a:gd name="connsiteY3" fmla="*/ 5835650 h 5835650"/>
              <a:gd name="connsiteX4" fmla="*/ 0 w 12192000"/>
              <a:gd name="connsiteY4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0 w 12198350"/>
              <a:gd name="connsiteY4" fmla="*/ 5835650 h 5835650"/>
              <a:gd name="connsiteX5" fmla="*/ 0 w 12198350"/>
              <a:gd name="connsiteY5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0 w 12198350"/>
              <a:gd name="connsiteY5" fmla="*/ 5835650 h 5835650"/>
              <a:gd name="connsiteX6" fmla="*/ 0 w 12198350"/>
              <a:gd name="connsiteY6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822450 w 12198350"/>
              <a:gd name="connsiteY5" fmla="*/ 58293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1727200 w 12198350"/>
              <a:gd name="connsiteY5" fmla="*/ 5486400 h 5835650"/>
              <a:gd name="connsiteX6" fmla="*/ 0 w 12198350"/>
              <a:gd name="connsiteY6" fmla="*/ 5835650 h 5835650"/>
              <a:gd name="connsiteX7" fmla="*/ 0 w 12198350"/>
              <a:gd name="connsiteY7" fmla="*/ 0 h 5835650"/>
              <a:gd name="connsiteX0" fmla="*/ 0 w 12198350"/>
              <a:gd name="connsiteY0" fmla="*/ 0 h 5835650"/>
              <a:gd name="connsiteX1" fmla="*/ 12192000 w 12198350"/>
              <a:gd name="connsiteY1" fmla="*/ 0 h 5835650"/>
              <a:gd name="connsiteX2" fmla="*/ 12198350 w 12198350"/>
              <a:gd name="connsiteY2" fmla="*/ 3505200 h 5835650"/>
              <a:gd name="connsiteX3" fmla="*/ 12192000 w 12198350"/>
              <a:gd name="connsiteY3" fmla="*/ 5835650 h 5835650"/>
              <a:gd name="connsiteX4" fmla="*/ 5060950 w 12198350"/>
              <a:gd name="connsiteY4" fmla="*/ 5835650 h 5835650"/>
              <a:gd name="connsiteX5" fmla="*/ 3854450 w 12198350"/>
              <a:gd name="connsiteY5" fmla="*/ 5695950 h 5835650"/>
              <a:gd name="connsiteX6" fmla="*/ 1727200 w 12198350"/>
              <a:gd name="connsiteY6" fmla="*/ 5486400 h 5835650"/>
              <a:gd name="connsiteX7" fmla="*/ 0 w 12198350"/>
              <a:gd name="connsiteY7" fmla="*/ 5835650 h 5835650"/>
              <a:gd name="connsiteX8" fmla="*/ 0 w 12198350"/>
              <a:gd name="connsiteY8" fmla="*/ 0 h 5835650"/>
              <a:gd name="connsiteX0" fmla="*/ 0 w 12198350"/>
              <a:gd name="connsiteY0" fmla="*/ 0 h 5842000"/>
              <a:gd name="connsiteX1" fmla="*/ 12192000 w 12198350"/>
              <a:gd name="connsiteY1" fmla="*/ 0 h 5842000"/>
              <a:gd name="connsiteX2" fmla="*/ 12198350 w 12198350"/>
              <a:gd name="connsiteY2" fmla="*/ 3505200 h 5842000"/>
              <a:gd name="connsiteX3" fmla="*/ 12192000 w 12198350"/>
              <a:gd name="connsiteY3" fmla="*/ 5835650 h 5842000"/>
              <a:gd name="connsiteX4" fmla="*/ 5060950 w 12198350"/>
              <a:gd name="connsiteY4" fmla="*/ 5835650 h 5842000"/>
              <a:gd name="connsiteX5" fmla="*/ 3663950 w 12198350"/>
              <a:gd name="connsiteY5" fmla="*/ 5842000 h 5842000"/>
              <a:gd name="connsiteX6" fmla="*/ 1727200 w 12198350"/>
              <a:gd name="connsiteY6" fmla="*/ 5486400 h 5842000"/>
              <a:gd name="connsiteX7" fmla="*/ 0 w 12198350"/>
              <a:gd name="connsiteY7" fmla="*/ 5835650 h 5842000"/>
              <a:gd name="connsiteX8" fmla="*/ 0 w 12198350"/>
              <a:gd name="connsiteY8" fmla="*/ 0 h 584200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4883150 w 12198350"/>
              <a:gd name="connsiteY4" fmla="*/ 5924550 h 5924550"/>
              <a:gd name="connsiteX5" fmla="*/ 3663950 w 12198350"/>
              <a:gd name="connsiteY5" fmla="*/ 5842000 h 5924550"/>
              <a:gd name="connsiteX6" fmla="*/ 1727200 w 12198350"/>
              <a:gd name="connsiteY6" fmla="*/ 5486400 h 5924550"/>
              <a:gd name="connsiteX7" fmla="*/ 0 w 12198350"/>
              <a:gd name="connsiteY7" fmla="*/ 5835650 h 5924550"/>
              <a:gd name="connsiteX8" fmla="*/ 0 w 12198350"/>
              <a:gd name="connsiteY8" fmla="*/ 0 h 5924550"/>
              <a:gd name="connsiteX0" fmla="*/ 0 w 12198350"/>
              <a:gd name="connsiteY0" fmla="*/ 0 h 5924550"/>
              <a:gd name="connsiteX1" fmla="*/ 12192000 w 12198350"/>
              <a:gd name="connsiteY1" fmla="*/ 0 h 5924550"/>
              <a:gd name="connsiteX2" fmla="*/ 12198350 w 12198350"/>
              <a:gd name="connsiteY2" fmla="*/ 3505200 h 5924550"/>
              <a:gd name="connsiteX3" fmla="*/ 12192000 w 12198350"/>
              <a:gd name="connsiteY3" fmla="*/ 5835650 h 5924550"/>
              <a:gd name="connsiteX4" fmla="*/ 8318500 w 12198350"/>
              <a:gd name="connsiteY4" fmla="*/ 5867400 h 5924550"/>
              <a:gd name="connsiteX5" fmla="*/ 4883150 w 12198350"/>
              <a:gd name="connsiteY5" fmla="*/ 5924550 h 5924550"/>
              <a:gd name="connsiteX6" fmla="*/ 3663950 w 12198350"/>
              <a:gd name="connsiteY6" fmla="*/ 5842000 h 5924550"/>
              <a:gd name="connsiteX7" fmla="*/ 1727200 w 12198350"/>
              <a:gd name="connsiteY7" fmla="*/ 5486400 h 5924550"/>
              <a:gd name="connsiteX8" fmla="*/ 0 w 12198350"/>
              <a:gd name="connsiteY8" fmla="*/ 5835650 h 5924550"/>
              <a:gd name="connsiteX9" fmla="*/ 0 w 12198350"/>
              <a:gd name="connsiteY9" fmla="*/ 0 h 59245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9766300 w 12198350"/>
              <a:gd name="connsiteY4" fmla="*/ 59245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2192000 w 12198350"/>
              <a:gd name="connsiteY3" fmla="*/ 583565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25525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8813800 w 12198350"/>
              <a:gd name="connsiteY3" fmla="*/ 5746750 h 6038850"/>
              <a:gd name="connsiteX4" fmla="*/ 7219950 w 12198350"/>
              <a:gd name="connsiteY4" fmla="*/ 6038850 h 6038850"/>
              <a:gd name="connsiteX5" fmla="*/ 4883150 w 12198350"/>
              <a:gd name="connsiteY5" fmla="*/ 5924550 h 6038850"/>
              <a:gd name="connsiteX6" fmla="*/ 3663950 w 12198350"/>
              <a:gd name="connsiteY6" fmla="*/ 5842000 h 6038850"/>
              <a:gd name="connsiteX7" fmla="*/ 1727200 w 12198350"/>
              <a:gd name="connsiteY7" fmla="*/ 5486400 h 6038850"/>
              <a:gd name="connsiteX8" fmla="*/ 0 w 12198350"/>
              <a:gd name="connsiteY8" fmla="*/ 5835650 h 6038850"/>
              <a:gd name="connsiteX9" fmla="*/ 0 w 12198350"/>
              <a:gd name="connsiteY9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623550 w 12198350"/>
              <a:gd name="connsiteY3" fmla="*/ 48006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0185400 w 12198350"/>
              <a:gd name="connsiteY3" fmla="*/ 4978400 h 6038850"/>
              <a:gd name="connsiteX4" fmla="*/ 8813800 w 12198350"/>
              <a:gd name="connsiteY4" fmla="*/ 5746750 h 6038850"/>
              <a:gd name="connsiteX5" fmla="*/ 7219950 w 12198350"/>
              <a:gd name="connsiteY5" fmla="*/ 6038850 h 6038850"/>
              <a:gd name="connsiteX6" fmla="*/ 4883150 w 12198350"/>
              <a:gd name="connsiteY6" fmla="*/ 5924550 h 6038850"/>
              <a:gd name="connsiteX7" fmla="*/ 3663950 w 12198350"/>
              <a:gd name="connsiteY7" fmla="*/ 5842000 h 6038850"/>
              <a:gd name="connsiteX8" fmla="*/ 1727200 w 12198350"/>
              <a:gd name="connsiteY8" fmla="*/ 5486400 h 6038850"/>
              <a:gd name="connsiteX9" fmla="*/ 0 w 12198350"/>
              <a:gd name="connsiteY9" fmla="*/ 5835650 h 6038850"/>
              <a:gd name="connsiteX10" fmla="*/ 0 w 12198350"/>
              <a:gd name="connsiteY10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766550 w 12198350"/>
              <a:gd name="connsiteY3" fmla="*/ 410845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  <a:gd name="connsiteX0" fmla="*/ 0 w 12198350"/>
              <a:gd name="connsiteY0" fmla="*/ 0 h 6038850"/>
              <a:gd name="connsiteX1" fmla="*/ 12192000 w 12198350"/>
              <a:gd name="connsiteY1" fmla="*/ 0 h 6038850"/>
              <a:gd name="connsiteX2" fmla="*/ 12198350 w 12198350"/>
              <a:gd name="connsiteY2" fmla="*/ 3505200 h 6038850"/>
              <a:gd name="connsiteX3" fmla="*/ 11341100 w 12198350"/>
              <a:gd name="connsiteY3" fmla="*/ 4267200 h 6038850"/>
              <a:gd name="connsiteX4" fmla="*/ 10185400 w 12198350"/>
              <a:gd name="connsiteY4" fmla="*/ 4978400 h 6038850"/>
              <a:gd name="connsiteX5" fmla="*/ 8813800 w 12198350"/>
              <a:gd name="connsiteY5" fmla="*/ 5746750 h 6038850"/>
              <a:gd name="connsiteX6" fmla="*/ 7219950 w 12198350"/>
              <a:gd name="connsiteY6" fmla="*/ 6038850 h 6038850"/>
              <a:gd name="connsiteX7" fmla="*/ 4883150 w 12198350"/>
              <a:gd name="connsiteY7" fmla="*/ 5924550 h 6038850"/>
              <a:gd name="connsiteX8" fmla="*/ 3663950 w 12198350"/>
              <a:gd name="connsiteY8" fmla="*/ 5842000 h 6038850"/>
              <a:gd name="connsiteX9" fmla="*/ 1727200 w 12198350"/>
              <a:gd name="connsiteY9" fmla="*/ 5486400 h 6038850"/>
              <a:gd name="connsiteX10" fmla="*/ 0 w 12198350"/>
              <a:gd name="connsiteY10" fmla="*/ 5835650 h 6038850"/>
              <a:gd name="connsiteX11" fmla="*/ 0 w 12198350"/>
              <a:gd name="connsiteY11" fmla="*/ 0 h 6038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8350" h="6038850">
                <a:moveTo>
                  <a:pt x="0" y="0"/>
                </a:moveTo>
                <a:lnTo>
                  <a:pt x="12192000" y="0"/>
                </a:lnTo>
                <a:cubicBezTo>
                  <a:pt x="12194117" y="1168400"/>
                  <a:pt x="12196233" y="2336800"/>
                  <a:pt x="12198350" y="3505200"/>
                </a:cubicBezTo>
                <a:cubicBezTo>
                  <a:pt x="11828992" y="3872442"/>
                  <a:pt x="11606741" y="4015317"/>
                  <a:pt x="11341100" y="4267200"/>
                </a:cubicBezTo>
                <a:cubicBezTo>
                  <a:pt x="11005609" y="4512733"/>
                  <a:pt x="10677525" y="4705350"/>
                  <a:pt x="10185400" y="4978400"/>
                </a:cubicBezTo>
                <a:cubicBezTo>
                  <a:pt x="9693275" y="5251450"/>
                  <a:pt x="9381067" y="5540375"/>
                  <a:pt x="8813800" y="5746750"/>
                </a:cubicBezTo>
                <a:lnTo>
                  <a:pt x="7219950" y="6038850"/>
                </a:lnTo>
                <a:lnTo>
                  <a:pt x="4883150" y="5924550"/>
                </a:lnTo>
                <a:lnTo>
                  <a:pt x="3663950" y="5842000"/>
                </a:lnTo>
                <a:lnTo>
                  <a:pt x="1727200" y="5486400"/>
                </a:lnTo>
                <a:lnTo>
                  <a:pt x="0" y="5835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  <a:gs pos="68000">
                <a:srgbClr val="000000">
                  <a:alpha val="4000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9734976" cy="2308324"/>
          </a:xfrm>
        </p:spPr>
        <p:txBody>
          <a:bodyPr>
            <a:normAutofit/>
          </a:bodyPr>
          <a:lstStyle/>
          <a:p>
            <a:pPr algn="l"/>
            <a:r>
              <a:rPr lang="fr-FR" sz="7200" dirty="0">
                <a:solidFill>
                  <a:srgbClr val="FF0000"/>
                </a:solidFill>
              </a:rPr>
              <a:t>SAE 15 : Traiter des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C2DB71-4AE9-70A7-7C0C-ABD86BC23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fr-FR" sz="3800" dirty="0">
                <a:solidFill>
                  <a:srgbClr val="FF0000"/>
                </a:solidFill>
              </a:rPr>
              <a:t>Sommaire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AEDD01-9507-7873-901A-1B2ACC2B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Batang"/>
                <a:ea typeface="Batang"/>
              </a:rPr>
              <a:t>Les motivations de notre choix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Batang"/>
              </a:rPr>
              <a:t>Les méthodes d'extraction des données réalisée.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Batang"/>
              </a:rPr>
              <a:t>Structure du site web et ses fonctionnalités.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Batang"/>
              </a:rPr>
              <a:t>Compte rendu des difficultés principales rencontrées.</a:t>
            </a:r>
          </a:p>
          <a:p>
            <a:pPr marL="0" indent="0">
              <a:buNone/>
            </a:pPr>
            <a:endParaRPr lang="fr-FR" sz="20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Images de Illustration sommaire – Téléchargement gratuit sur Freepik">
            <a:extLst>
              <a:ext uri="{FF2B5EF4-FFF2-40B4-BE49-F238E27FC236}">
                <a16:creationId xmlns:a16="http://schemas.microsoft.com/office/drawing/2014/main" id="{91AC6AD8-F863-A360-2F07-B3830B76D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90" y="595726"/>
            <a:ext cx="5666547" cy="566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10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5166D1-1B21-4128-AC42-61745528E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829F4C9-0B30-F3B5-059D-F7C1C7CF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fr-FR" sz="4000" dirty="0">
                <a:solidFill>
                  <a:srgbClr val="FF0000"/>
                </a:solidFill>
              </a:rPr>
              <a:t>Les motivations de notre choix</a:t>
            </a:r>
          </a:p>
        </p:txBody>
      </p:sp>
      <p:pic>
        <p:nvPicPr>
          <p:cNvPr id="4" name="Image 3" descr="Top 10 des meilleures bases de données à choisir en 2026 – Ambient IT">
            <a:extLst>
              <a:ext uri="{FF2B5EF4-FFF2-40B4-BE49-F238E27FC236}">
                <a16:creationId xmlns:a16="http://schemas.microsoft.com/office/drawing/2014/main" id="{D7B56545-3B5B-8281-8467-9564D79BB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62" r="21314" b="-1"/>
          <a:stretch>
            <a:fillRect/>
          </a:stretch>
        </p:blipFill>
        <p:spPr>
          <a:xfrm>
            <a:off x="20" y="2"/>
            <a:ext cx="6186992" cy="6857998"/>
          </a:xfrm>
          <a:custGeom>
            <a:avLst/>
            <a:gdLst/>
            <a:ahLst/>
            <a:cxnLst/>
            <a:rect l="l" t="t" r="r" b="b"/>
            <a:pathLst>
              <a:path w="6187012" h="6857998">
                <a:moveTo>
                  <a:pt x="5434855" y="6118149"/>
                </a:moveTo>
                <a:cubicBezTo>
                  <a:pt x="5441404" y="6124102"/>
                  <a:pt x="5449025" y="6129341"/>
                  <a:pt x="5456075" y="6133723"/>
                </a:cubicBezTo>
                <a:cubicBezTo>
                  <a:pt x="5463218" y="6138152"/>
                  <a:pt x="5468564" y="6143474"/>
                  <a:pt x="5472234" y="6149380"/>
                </a:cubicBezTo>
                <a:lnTo>
                  <a:pt x="5477710" y="6166562"/>
                </a:lnTo>
                <a:lnTo>
                  <a:pt x="5472234" y="6149379"/>
                </a:lnTo>
                <a:cubicBezTo>
                  <a:pt x="5468564" y="6143474"/>
                  <a:pt x="5463218" y="6138152"/>
                  <a:pt x="5456075" y="6133722"/>
                </a:cubicBezTo>
                <a:cubicBezTo>
                  <a:pt x="5449025" y="6129341"/>
                  <a:pt x="5441404" y="6124102"/>
                  <a:pt x="5434855" y="6118149"/>
                </a:cubicBezTo>
                <a:close/>
                <a:moveTo>
                  <a:pt x="5343013" y="4941372"/>
                </a:moveTo>
                <a:lnTo>
                  <a:pt x="5346342" y="4950869"/>
                </a:lnTo>
                <a:lnTo>
                  <a:pt x="5356027" y="4991382"/>
                </a:lnTo>
                <a:lnTo>
                  <a:pt x="5346342" y="4950868"/>
                </a:lnTo>
                <a:close/>
                <a:moveTo>
                  <a:pt x="5346951" y="4749807"/>
                </a:moveTo>
                <a:cubicBezTo>
                  <a:pt x="5334815" y="4762826"/>
                  <a:pt x="5333958" y="4781365"/>
                  <a:pt x="5332244" y="4799797"/>
                </a:cubicBezTo>
                <a:cubicBezTo>
                  <a:pt x="5333958" y="4781365"/>
                  <a:pt x="5334815" y="4762827"/>
                  <a:pt x="5346951" y="4749807"/>
                </a:cubicBezTo>
                <a:close/>
                <a:moveTo>
                  <a:pt x="5364750" y="4543185"/>
                </a:moveTo>
                <a:cubicBezTo>
                  <a:pt x="5365727" y="4548281"/>
                  <a:pt x="5367775" y="4553662"/>
                  <a:pt x="5370156" y="4557092"/>
                </a:cubicBezTo>
                <a:cubicBezTo>
                  <a:pt x="5381776" y="4573618"/>
                  <a:pt x="5390563" y="4588275"/>
                  <a:pt x="5396519" y="4602021"/>
                </a:cubicBezTo>
                <a:cubicBezTo>
                  <a:pt x="5390563" y="4588275"/>
                  <a:pt x="5381776" y="4573618"/>
                  <a:pt x="5370156" y="4557091"/>
                </a:cubicBezTo>
                <a:close/>
                <a:moveTo>
                  <a:pt x="5830968" y="2819253"/>
                </a:moveTo>
                <a:lnTo>
                  <a:pt x="5842611" y="2827484"/>
                </a:lnTo>
                <a:lnTo>
                  <a:pt x="5842613" y="2827486"/>
                </a:lnTo>
                <a:lnTo>
                  <a:pt x="5871116" y="2861156"/>
                </a:lnTo>
                <a:lnTo>
                  <a:pt x="5861462" y="2842392"/>
                </a:lnTo>
                <a:lnTo>
                  <a:pt x="5842613" y="2827486"/>
                </a:lnTo>
                <a:lnTo>
                  <a:pt x="5842611" y="2827483"/>
                </a:lnTo>
                <a:close/>
                <a:moveTo>
                  <a:pt x="5761313" y="1974015"/>
                </a:moveTo>
                <a:lnTo>
                  <a:pt x="5754799" y="1999763"/>
                </a:lnTo>
                <a:cubicBezTo>
                  <a:pt x="5750990" y="2008056"/>
                  <a:pt x="5745310" y="2016020"/>
                  <a:pt x="5737071" y="2023547"/>
                </a:cubicBezTo>
                <a:cubicBezTo>
                  <a:pt x="5753550" y="2008497"/>
                  <a:pt x="5759789" y="1991685"/>
                  <a:pt x="5761313" y="1974015"/>
                </a:cubicBezTo>
                <a:close/>
                <a:moveTo>
                  <a:pt x="5744119" y="1768838"/>
                </a:moveTo>
                <a:cubicBezTo>
                  <a:pt x="5739738" y="1774411"/>
                  <a:pt x="5736975" y="1779948"/>
                  <a:pt x="5735518" y="1785412"/>
                </a:cubicBezTo>
                <a:lnTo>
                  <a:pt x="5734738" y="1801558"/>
                </a:lnTo>
                <a:cubicBezTo>
                  <a:pt x="5733070" y="1790986"/>
                  <a:pt x="5735356" y="1779981"/>
                  <a:pt x="5744119" y="1768838"/>
                </a:cubicBezTo>
                <a:close/>
                <a:moveTo>
                  <a:pt x="5853708" y="520953"/>
                </a:moveTo>
                <a:lnTo>
                  <a:pt x="5846981" y="549926"/>
                </a:lnTo>
                <a:lnTo>
                  <a:pt x="5840726" y="566616"/>
                </a:lnTo>
                <a:lnTo>
                  <a:pt x="5834776" y="581804"/>
                </a:lnTo>
                <a:lnTo>
                  <a:pt x="5834358" y="583595"/>
                </a:lnTo>
                <a:lnTo>
                  <a:pt x="5832183" y="589388"/>
                </a:lnTo>
                <a:cubicBezTo>
                  <a:pt x="5829783" y="597005"/>
                  <a:pt x="5828025" y="604728"/>
                  <a:pt x="5827560" y="612658"/>
                </a:cubicBezTo>
                <a:lnTo>
                  <a:pt x="5834358" y="583595"/>
                </a:lnTo>
                <a:lnTo>
                  <a:pt x="5840674" y="566754"/>
                </a:lnTo>
                <a:lnTo>
                  <a:pt x="5840726" y="566616"/>
                </a:lnTo>
                <a:lnTo>
                  <a:pt x="5846564" y="551717"/>
                </a:lnTo>
                <a:lnTo>
                  <a:pt x="5846981" y="549926"/>
                </a:lnTo>
                <a:lnTo>
                  <a:pt x="5849145" y="544146"/>
                </a:lnTo>
                <a:cubicBezTo>
                  <a:pt x="5851532" y="536547"/>
                  <a:pt x="5853271" y="528850"/>
                  <a:pt x="5853708" y="520953"/>
                </a:cubicBezTo>
                <a:close/>
                <a:moveTo>
                  <a:pt x="5802605" y="268794"/>
                </a:moveTo>
                <a:cubicBezTo>
                  <a:pt x="5800080" y="279176"/>
                  <a:pt x="5798377" y="289296"/>
                  <a:pt x="5797729" y="299164"/>
                </a:cubicBezTo>
                <a:cubicBezTo>
                  <a:pt x="5797080" y="309031"/>
                  <a:pt x="5797485" y="318646"/>
                  <a:pt x="5799176" y="328017"/>
                </a:cubicBezTo>
                <a:close/>
                <a:moveTo>
                  <a:pt x="0" y="0"/>
                </a:moveTo>
                <a:lnTo>
                  <a:pt x="6120021" y="0"/>
                </a:lnTo>
                <a:lnTo>
                  <a:pt x="6115806" y="24480"/>
                </a:lnTo>
                <a:cubicBezTo>
                  <a:pt x="6113321" y="32636"/>
                  <a:pt x="6109559" y="40471"/>
                  <a:pt x="6103795" y="47806"/>
                </a:cubicBezTo>
                <a:cubicBezTo>
                  <a:pt x="6088935" y="66857"/>
                  <a:pt x="6092364" y="85336"/>
                  <a:pt x="6094651" y="105718"/>
                </a:cubicBezTo>
                <a:cubicBezTo>
                  <a:pt x="6096365" y="121150"/>
                  <a:pt x="6095794" y="136963"/>
                  <a:pt x="6095986" y="152584"/>
                </a:cubicBezTo>
                <a:cubicBezTo>
                  <a:pt x="6096555" y="180017"/>
                  <a:pt x="6096746" y="207450"/>
                  <a:pt x="6097699" y="234883"/>
                </a:cubicBezTo>
                <a:cubicBezTo>
                  <a:pt x="6098079" y="243648"/>
                  <a:pt x="6102844" y="252600"/>
                  <a:pt x="6102082" y="261173"/>
                </a:cubicBezTo>
                <a:cubicBezTo>
                  <a:pt x="6098461" y="300800"/>
                  <a:pt x="6092746" y="340425"/>
                  <a:pt x="6089507" y="380050"/>
                </a:cubicBezTo>
                <a:cubicBezTo>
                  <a:pt x="6087603" y="402529"/>
                  <a:pt x="6091220" y="425581"/>
                  <a:pt x="6088555" y="447870"/>
                </a:cubicBezTo>
                <a:cubicBezTo>
                  <a:pt x="6085507" y="473587"/>
                  <a:pt x="6077697" y="498733"/>
                  <a:pt x="6072932" y="524262"/>
                </a:cubicBezTo>
                <a:cubicBezTo>
                  <a:pt x="6071600" y="531310"/>
                  <a:pt x="6073315" y="539121"/>
                  <a:pt x="6073694" y="546552"/>
                </a:cubicBezTo>
                <a:cubicBezTo>
                  <a:pt x="6074076" y="554933"/>
                  <a:pt x="6074838" y="563125"/>
                  <a:pt x="6075029" y="571508"/>
                </a:cubicBezTo>
                <a:cubicBezTo>
                  <a:pt x="6075411" y="597037"/>
                  <a:pt x="6074838" y="622564"/>
                  <a:pt x="6076173" y="648092"/>
                </a:cubicBezTo>
                <a:cubicBezTo>
                  <a:pt x="6076934" y="663713"/>
                  <a:pt x="6084744" y="680096"/>
                  <a:pt x="6081886" y="694576"/>
                </a:cubicBezTo>
                <a:cubicBezTo>
                  <a:pt x="6076363" y="724104"/>
                  <a:pt x="6088745" y="753633"/>
                  <a:pt x="6078459" y="783158"/>
                </a:cubicBezTo>
                <a:cubicBezTo>
                  <a:pt x="6075411" y="792306"/>
                  <a:pt x="6083031" y="804877"/>
                  <a:pt x="6083411" y="815929"/>
                </a:cubicBezTo>
                <a:cubicBezTo>
                  <a:pt x="6084363" y="843552"/>
                  <a:pt x="6084173" y="871173"/>
                  <a:pt x="6083983" y="898797"/>
                </a:cubicBezTo>
                <a:cubicBezTo>
                  <a:pt x="6083793" y="923562"/>
                  <a:pt x="6086459" y="949281"/>
                  <a:pt x="6081125" y="973095"/>
                </a:cubicBezTo>
                <a:cubicBezTo>
                  <a:pt x="6075411" y="998052"/>
                  <a:pt x="6076173" y="1020529"/>
                  <a:pt x="6082649" y="1044725"/>
                </a:cubicBezTo>
                <a:cubicBezTo>
                  <a:pt x="6087031" y="1061298"/>
                  <a:pt x="6087603" y="1078826"/>
                  <a:pt x="6088935" y="1095972"/>
                </a:cubicBezTo>
                <a:cubicBezTo>
                  <a:pt x="6090459" y="1114449"/>
                  <a:pt x="6086459" y="1134834"/>
                  <a:pt x="6092746" y="1151600"/>
                </a:cubicBezTo>
                <a:cubicBezTo>
                  <a:pt x="6111415" y="1201512"/>
                  <a:pt x="6115415" y="1252757"/>
                  <a:pt x="6115415" y="1304955"/>
                </a:cubicBezTo>
                <a:cubicBezTo>
                  <a:pt x="6115415" y="1314483"/>
                  <a:pt x="6112750" y="1324198"/>
                  <a:pt x="6109892" y="1333341"/>
                </a:cubicBezTo>
                <a:cubicBezTo>
                  <a:pt x="6092746" y="1386684"/>
                  <a:pt x="6094269" y="1440216"/>
                  <a:pt x="6104748" y="1494509"/>
                </a:cubicBezTo>
                <a:cubicBezTo>
                  <a:pt x="6107034" y="1505751"/>
                  <a:pt x="6107415" y="1518324"/>
                  <a:pt x="6105130" y="1529563"/>
                </a:cubicBezTo>
                <a:cubicBezTo>
                  <a:pt x="6098461" y="1561189"/>
                  <a:pt x="6087411" y="1591859"/>
                  <a:pt x="6082649" y="1623675"/>
                </a:cubicBezTo>
                <a:cubicBezTo>
                  <a:pt x="6074838" y="1676253"/>
                  <a:pt x="6101126" y="1721785"/>
                  <a:pt x="6118274" y="1768838"/>
                </a:cubicBezTo>
                <a:cubicBezTo>
                  <a:pt x="6134467" y="1813610"/>
                  <a:pt x="6171044" y="1851709"/>
                  <a:pt x="6162851" y="1904673"/>
                </a:cubicBezTo>
                <a:cubicBezTo>
                  <a:pt x="6162090" y="1910004"/>
                  <a:pt x="6167233" y="1915912"/>
                  <a:pt x="6168567" y="1921817"/>
                </a:cubicBezTo>
                <a:cubicBezTo>
                  <a:pt x="6172188" y="1938009"/>
                  <a:pt x="6176566" y="1954202"/>
                  <a:pt x="6178283" y="1970586"/>
                </a:cubicBezTo>
                <a:cubicBezTo>
                  <a:pt x="6180570" y="1990589"/>
                  <a:pt x="6179809" y="2010974"/>
                  <a:pt x="6181713" y="2030977"/>
                </a:cubicBezTo>
                <a:cubicBezTo>
                  <a:pt x="6182856" y="2043835"/>
                  <a:pt x="6184951" y="2056600"/>
                  <a:pt x="6186761" y="2069340"/>
                </a:cubicBezTo>
                <a:lnTo>
                  <a:pt x="6187012" y="2072225"/>
                </a:lnTo>
                <a:lnTo>
                  <a:pt x="6187012" y="2131532"/>
                </a:lnTo>
                <a:lnTo>
                  <a:pt x="6186141" y="2138304"/>
                </a:lnTo>
                <a:cubicBezTo>
                  <a:pt x="6183950" y="2148519"/>
                  <a:pt x="6181332" y="2158712"/>
                  <a:pt x="6179617" y="2168903"/>
                </a:cubicBezTo>
                <a:cubicBezTo>
                  <a:pt x="6174854" y="2197670"/>
                  <a:pt x="6176188" y="2229296"/>
                  <a:pt x="6163995" y="2254633"/>
                </a:cubicBezTo>
                <a:cubicBezTo>
                  <a:pt x="6151041" y="2281683"/>
                  <a:pt x="6145135" y="2307402"/>
                  <a:pt x="6149135" y="2335405"/>
                </a:cubicBezTo>
                <a:cubicBezTo>
                  <a:pt x="6150469" y="2344741"/>
                  <a:pt x="6158471" y="2356744"/>
                  <a:pt x="6166661" y="2360933"/>
                </a:cubicBezTo>
                <a:cubicBezTo>
                  <a:pt x="6184950" y="2370270"/>
                  <a:pt x="6188190" y="2383032"/>
                  <a:pt x="6181902" y="2400369"/>
                </a:cubicBezTo>
                <a:cubicBezTo>
                  <a:pt x="6176566" y="2415420"/>
                  <a:pt x="6173901" y="2433897"/>
                  <a:pt x="6163613" y="2444184"/>
                </a:cubicBezTo>
                <a:cubicBezTo>
                  <a:pt x="6134467" y="2473333"/>
                  <a:pt x="6133515" y="2510483"/>
                  <a:pt x="6125705" y="2546678"/>
                </a:cubicBezTo>
                <a:cubicBezTo>
                  <a:pt x="6120940" y="2568774"/>
                  <a:pt x="6120750" y="2589352"/>
                  <a:pt x="6123988" y="2611450"/>
                </a:cubicBezTo>
                <a:cubicBezTo>
                  <a:pt x="6131227" y="2659455"/>
                  <a:pt x="6120940" y="2706131"/>
                  <a:pt x="6107796" y="2752235"/>
                </a:cubicBezTo>
                <a:cubicBezTo>
                  <a:pt x="6099034" y="2782716"/>
                  <a:pt x="6093699" y="2813958"/>
                  <a:pt x="6084744" y="2844248"/>
                </a:cubicBezTo>
                <a:cubicBezTo>
                  <a:pt x="6077886" y="2866918"/>
                  <a:pt x="6069694" y="2889587"/>
                  <a:pt x="6058646" y="2910353"/>
                </a:cubicBezTo>
                <a:cubicBezTo>
                  <a:pt x="6042452" y="2940455"/>
                  <a:pt x="6018067" y="2966742"/>
                  <a:pt x="6024544" y="3005035"/>
                </a:cubicBezTo>
                <a:cubicBezTo>
                  <a:pt x="6030260" y="3038756"/>
                  <a:pt x="6018259" y="3069235"/>
                  <a:pt x="6006828" y="3100099"/>
                </a:cubicBezTo>
                <a:cubicBezTo>
                  <a:pt x="5998446" y="3122770"/>
                  <a:pt x="5989871" y="3145436"/>
                  <a:pt x="5984537" y="3168870"/>
                </a:cubicBezTo>
                <a:cubicBezTo>
                  <a:pt x="5978251" y="3196686"/>
                  <a:pt x="5980920" y="3228119"/>
                  <a:pt x="5969297" y="3252885"/>
                </a:cubicBezTo>
                <a:cubicBezTo>
                  <a:pt x="5957105" y="3278795"/>
                  <a:pt x="5965297" y="3300319"/>
                  <a:pt x="5968726" y="3323372"/>
                </a:cubicBezTo>
                <a:cubicBezTo>
                  <a:pt x="5974061" y="3360139"/>
                  <a:pt x="5983967" y="3396719"/>
                  <a:pt x="5971395" y="3433866"/>
                </a:cubicBezTo>
                <a:cubicBezTo>
                  <a:pt x="5956153" y="3479015"/>
                  <a:pt x="5939769" y="3523785"/>
                  <a:pt x="5925292" y="3569124"/>
                </a:cubicBezTo>
                <a:cubicBezTo>
                  <a:pt x="5919765" y="3586653"/>
                  <a:pt x="5917479" y="3605509"/>
                  <a:pt x="5915003" y="3623799"/>
                </a:cubicBezTo>
                <a:cubicBezTo>
                  <a:pt x="5912906" y="3641134"/>
                  <a:pt x="5918242" y="3661899"/>
                  <a:pt x="5910241" y="3675238"/>
                </a:cubicBezTo>
                <a:cubicBezTo>
                  <a:pt x="5889667" y="3709529"/>
                  <a:pt x="5879569" y="3744770"/>
                  <a:pt x="5879569" y="3784397"/>
                </a:cubicBezTo>
                <a:cubicBezTo>
                  <a:pt x="5879569" y="3799258"/>
                  <a:pt x="5870996" y="3813737"/>
                  <a:pt x="5869471" y="3828785"/>
                </a:cubicBezTo>
                <a:cubicBezTo>
                  <a:pt x="5867567" y="3849362"/>
                  <a:pt x="5862423" y="3872985"/>
                  <a:pt x="5869664" y="3890891"/>
                </a:cubicBezTo>
                <a:cubicBezTo>
                  <a:pt x="5886809" y="3932993"/>
                  <a:pt x="5872519" y="3967091"/>
                  <a:pt x="5855566" y="4003861"/>
                </a:cubicBezTo>
                <a:cubicBezTo>
                  <a:pt x="5838801" y="4040058"/>
                  <a:pt x="5825466" y="4078159"/>
                  <a:pt x="5814416" y="4116641"/>
                </a:cubicBezTo>
                <a:cubicBezTo>
                  <a:pt x="5810415" y="4131119"/>
                  <a:pt x="5817085" y="4148453"/>
                  <a:pt x="5818417" y="4164458"/>
                </a:cubicBezTo>
                <a:cubicBezTo>
                  <a:pt x="5818798" y="4170174"/>
                  <a:pt x="5819370" y="4176461"/>
                  <a:pt x="5817466" y="4181603"/>
                </a:cubicBezTo>
                <a:cubicBezTo>
                  <a:pt x="5799176" y="4231324"/>
                  <a:pt x="5785269" y="4281810"/>
                  <a:pt x="5794794" y="4335722"/>
                </a:cubicBezTo>
                <a:cubicBezTo>
                  <a:pt x="5795747" y="4340674"/>
                  <a:pt x="5793650" y="4346201"/>
                  <a:pt x="5792317" y="4351154"/>
                </a:cubicBezTo>
                <a:cubicBezTo>
                  <a:pt x="5785461" y="4375349"/>
                  <a:pt x="5774601" y="4398972"/>
                  <a:pt x="5772124" y="4423545"/>
                </a:cubicBezTo>
                <a:cubicBezTo>
                  <a:pt x="5766028" y="4484127"/>
                  <a:pt x="5763550" y="4545086"/>
                  <a:pt x="5759550" y="4606053"/>
                </a:cubicBezTo>
                <a:cubicBezTo>
                  <a:pt x="5759361" y="4609863"/>
                  <a:pt x="5759361" y="4613864"/>
                  <a:pt x="5758027" y="4617291"/>
                </a:cubicBezTo>
                <a:cubicBezTo>
                  <a:pt x="5749834" y="4639772"/>
                  <a:pt x="5752502" y="4659393"/>
                  <a:pt x="5768123" y="4678445"/>
                </a:cubicBezTo>
                <a:cubicBezTo>
                  <a:pt x="5774982" y="4686828"/>
                  <a:pt x="5778601" y="4698258"/>
                  <a:pt x="5782412" y="4708734"/>
                </a:cubicBezTo>
                <a:cubicBezTo>
                  <a:pt x="5788127" y="4724167"/>
                  <a:pt x="5793650" y="4739978"/>
                  <a:pt x="5797271" y="4755980"/>
                </a:cubicBezTo>
                <a:cubicBezTo>
                  <a:pt x="5800700" y="4771793"/>
                  <a:pt x="5805462" y="4788747"/>
                  <a:pt x="5802796" y="4803988"/>
                </a:cubicBezTo>
                <a:cubicBezTo>
                  <a:pt x="5798035" y="4831420"/>
                  <a:pt x="5787366" y="4857522"/>
                  <a:pt x="5780315" y="4884572"/>
                </a:cubicBezTo>
                <a:cubicBezTo>
                  <a:pt x="5777837" y="4893907"/>
                  <a:pt x="5778221" y="4904195"/>
                  <a:pt x="5778030" y="4913909"/>
                </a:cubicBezTo>
                <a:cubicBezTo>
                  <a:pt x="5777459" y="4936201"/>
                  <a:pt x="5782984" y="4959061"/>
                  <a:pt x="5767171" y="4979253"/>
                </a:cubicBezTo>
                <a:cubicBezTo>
                  <a:pt x="5752311" y="4997922"/>
                  <a:pt x="5756692" y="5016785"/>
                  <a:pt x="5767932" y="5036405"/>
                </a:cubicBezTo>
                <a:cubicBezTo>
                  <a:pt x="5775934" y="5050504"/>
                  <a:pt x="5782221" y="5066505"/>
                  <a:pt x="5785269" y="5082317"/>
                </a:cubicBezTo>
                <a:cubicBezTo>
                  <a:pt x="5789460" y="5104036"/>
                  <a:pt x="5791175" y="5125562"/>
                  <a:pt x="5788697" y="5148995"/>
                </a:cubicBezTo>
                <a:cubicBezTo>
                  <a:pt x="5786983" y="5165570"/>
                  <a:pt x="5786221" y="5179097"/>
                  <a:pt x="5776125" y="5192051"/>
                </a:cubicBezTo>
                <a:cubicBezTo>
                  <a:pt x="5774601" y="5194145"/>
                  <a:pt x="5774219" y="5197955"/>
                  <a:pt x="5774412" y="5200813"/>
                </a:cubicBezTo>
                <a:cubicBezTo>
                  <a:pt x="5777649" y="5238343"/>
                  <a:pt x="5775934" y="5275491"/>
                  <a:pt x="5773646" y="5313403"/>
                </a:cubicBezTo>
                <a:cubicBezTo>
                  <a:pt x="5770601" y="5361598"/>
                  <a:pt x="5779553" y="5412276"/>
                  <a:pt x="5811559" y="5453995"/>
                </a:cubicBezTo>
                <a:cubicBezTo>
                  <a:pt x="5816322" y="5460092"/>
                  <a:pt x="5818417" y="5469236"/>
                  <a:pt x="5819562" y="5477239"/>
                </a:cubicBezTo>
                <a:cubicBezTo>
                  <a:pt x="5824514" y="5514957"/>
                  <a:pt x="5827942" y="5552869"/>
                  <a:pt x="5833467" y="5590590"/>
                </a:cubicBezTo>
                <a:cubicBezTo>
                  <a:pt x="5836516" y="5611164"/>
                  <a:pt x="5839182" y="5632691"/>
                  <a:pt x="5847565" y="5651360"/>
                </a:cubicBezTo>
                <a:cubicBezTo>
                  <a:pt x="5855756" y="5669647"/>
                  <a:pt x="5865471" y="5684320"/>
                  <a:pt x="5848327" y="5695178"/>
                </a:cubicBezTo>
                <a:cubicBezTo>
                  <a:pt x="5857471" y="5714607"/>
                  <a:pt x="5865092" y="5731564"/>
                  <a:pt x="5873282" y="5748136"/>
                </a:cubicBezTo>
                <a:cubicBezTo>
                  <a:pt x="5876329" y="5754234"/>
                  <a:pt x="5881284" y="5759378"/>
                  <a:pt x="5884142" y="5765474"/>
                </a:cubicBezTo>
                <a:cubicBezTo>
                  <a:pt x="5887190" y="5771953"/>
                  <a:pt x="5889094" y="5779191"/>
                  <a:pt x="5890620" y="5786239"/>
                </a:cubicBezTo>
                <a:cubicBezTo>
                  <a:pt x="5897477" y="5817674"/>
                  <a:pt x="5903763" y="5849107"/>
                  <a:pt x="5911194" y="5880348"/>
                </a:cubicBezTo>
                <a:cubicBezTo>
                  <a:pt x="5912717" y="5886447"/>
                  <a:pt x="5918813" y="5891590"/>
                  <a:pt x="5922813" y="5897114"/>
                </a:cubicBezTo>
                <a:cubicBezTo>
                  <a:pt x="5925481" y="5900735"/>
                  <a:pt x="5929482" y="5904353"/>
                  <a:pt x="5930054" y="5908355"/>
                </a:cubicBezTo>
                <a:cubicBezTo>
                  <a:pt x="5934626" y="5938836"/>
                  <a:pt x="5939961" y="5969124"/>
                  <a:pt x="5942246" y="5999796"/>
                </a:cubicBezTo>
                <a:cubicBezTo>
                  <a:pt x="5944149" y="6025515"/>
                  <a:pt x="5943580" y="6050282"/>
                  <a:pt x="5976728" y="6056948"/>
                </a:cubicBezTo>
                <a:cubicBezTo>
                  <a:pt x="5982443" y="6058092"/>
                  <a:pt x="5988540" y="6066284"/>
                  <a:pt x="5991396" y="6072569"/>
                </a:cubicBezTo>
                <a:cubicBezTo>
                  <a:pt x="5999589" y="6090477"/>
                  <a:pt x="6005113" y="6109530"/>
                  <a:pt x="6013494" y="6127247"/>
                </a:cubicBezTo>
                <a:cubicBezTo>
                  <a:pt x="6041500" y="6185351"/>
                  <a:pt x="6059217" y="6246121"/>
                  <a:pt x="6055978" y="6311084"/>
                </a:cubicBezTo>
                <a:cubicBezTo>
                  <a:pt x="6055026" y="6331277"/>
                  <a:pt x="6044737" y="6350899"/>
                  <a:pt x="6040926" y="6363664"/>
                </a:cubicBezTo>
                <a:cubicBezTo>
                  <a:pt x="6055978" y="6400429"/>
                  <a:pt x="6070456" y="6431292"/>
                  <a:pt x="6081315" y="6463490"/>
                </a:cubicBezTo>
                <a:cubicBezTo>
                  <a:pt x="6091031" y="6491874"/>
                  <a:pt x="6097127" y="6521593"/>
                  <a:pt x="6104175" y="6550742"/>
                </a:cubicBezTo>
                <a:cubicBezTo>
                  <a:pt x="6106844" y="6561411"/>
                  <a:pt x="6108367" y="6572269"/>
                  <a:pt x="6109702" y="6583128"/>
                </a:cubicBezTo>
                <a:cubicBezTo>
                  <a:pt x="6113892" y="6617036"/>
                  <a:pt x="6103795" y="6652472"/>
                  <a:pt x="6119798" y="6685617"/>
                </a:cubicBezTo>
                <a:cubicBezTo>
                  <a:pt x="6128180" y="6702955"/>
                  <a:pt x="6138276" y="6720103"/>
                  <a:pt x="6142658" y="6738388"/>
                </a:cubicBezTo>
                <a:cubicBezTo>
                  <a:pt x="6147421" y="6758011"/>
                  <a:pt x="6154851" y="6777207"/>
                  <a:pt x="6160162" y="6796804"/>
                </a:cubicBezTo>
                <a:lnTo>
                  <a:pt x="6164933" y="6857457"/>
                </a:lnTo>
                <a:lnTo>
                  <a:pt x="6037694" y="6857457"/>
                </a:lnTo>
                <a:lnTo>
                  <a:pt x="6037694" y="6857998"/>
                </a:lnTo>
                <a:lnTo>
                  <a:pt x="0" y="6857998"/>
                </a:lnTo>
                <a:close/>
              </a:path>
            </a:pathLst>
          </a:custGeom>
          <a:effectLst>
            <a:outerShdw blurRad="381000" dist="152400" algn="tl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6517BAC-C80F-4065-90D8-703493E0B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95368" y="0"/>
            <a:ext cx="874718" cy="6857455"/>
            <a:chOff x="5395368" y="0"/>
            <a:chExt cx="874718" cy="685745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84DCDA5-A261-4103-B44C-068DCEA03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4000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59A2A1-1352-47AA-80C2-0FF537594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240399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6B5AFB-4698-5FED-B2F8-4ACB9E692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6" y="3146400"/>
            <a:ext cx="4391024" cy="26820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17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Intérêt pour un sujet concret et actuel lié à la sécurité routière</a:t>
            </a:r>
          </a:p>
          <a:p>
            <a:r>
              <a:rPr lang="fr-FR" sz="17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Occasion de réaliser des analyses statistiques intéressantes et visuelles</a:t>
            </a:r>
            <a:endParaRPr lang="fr-FR" sz="1700" b="1">
              <a:solidFill>
                <a:schemeClr val="bg1">
                  <a:alpha val="80000"/>
                </a:schemeClr>
              </a:solidFill>
              <a:latin typeface="Batang"/>
              <a:ea typeface="Batang"/>
            </a:endParaRPr>
          </a:p>
          <a:p>
            <a:r>
              <a:rPr lang="fr-FR" sz="17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Projet qui permet de développer des compétences en traitement et interprétation de données</a:t>
            </a:r>
            <a:endParaRPr lang="fr-FR" sz="1700" b="1">
              <a:solidFill>
                <a:schemeClr val="bg1">
                  <a:alpha val="80000"/>
                </a:schemeClr>
              </a:solidFill>
              <a:latin typeface="Batang"/>
              <a:ea typeface="Batang"/>
            </a:endParaRPr>
          </a:p>
          <a:p>
            <a:r>
              <a:rPr lang="fr-FR" sz="17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Sujet qui peut attirer l’attention du public car proche du quotidien de tout le monde</a:t>
            </a:r>
            <a:endParaRPr lang="fr-FR" sz="1700" b="1" dirty="0">
              <a:solidFill>
                <a:schemeClr val="bg1">
                  <a:alpha val="80000"/>
                </a:schemeClr>
              </a:solidFill>
              <a:latin typeface="Batang"/>
              <a:ea typeface="Batang"/>
            </a:endParaRPr>
          </a:p>
          <a:p>
            <a:endParaRPr lang="fr-FR" sz="1700">
              <a:solidFill>
                <a:schemeClr val="bg1">
                  <a:alpha val="80000"/>
                </a:schemeClr>
              </a:solidFill>
            </a:endParaRPr>
          </a:p>
          <a:p>
            <a:endParaRPr lang="fr-FR" sz="17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80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B3471-A17F-19F6-7E17-BEE5AF3A0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919"/>
            <a:ext cx="4391024" cy="1471606"/>
          </a:xfrm>
        </p:spPr>
        <p:txBody>
          <a:bodyPr anchor="t">
            <a:normAutofit/>
          </a:bodyPr>
          <a:lstStyle/>
          <a:p>
            <a:r>
              <a:rPr lang="fr-FR" sz="3100" b="1" dirty="0">
                <a:solidFill>
                  <a:srgbClr val="FF0000"/>
                </a:solidFill>
                <a:ea typeface="+mj-lt"/>
                <a:cs typeface="+mj-lt"/>
              </a:rPr>
              <a:t>Les méthodes d'extraction des données réalisée.</a:t>
            </a:r>
            <a:endParaRPr lang="fr-FR" sz="3100" b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453FEB-7D23-5A31-37E5-0D42A1880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88733"/>
            <a:ext cx="4645024" cy="264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800" b="1" dirty="0">
                <a:solidFill>
                  <a:schemeClr val="bg1"/>
                </a:solidFill>
                <a:latin typeface="Batang"/>
                <a:ea typeface="Batang"/>
              </a:rPr>
              <a:t>Extraction des colonnes par index</a:t>
            </a:r>
          </a:p>
          <a:p>
            <a:r>
              <a:rPr lang="fr-FR" sz="1800" b="1" dirty="0">
                <a:solidFill>
                  <a:schemeClr val="bg1"/>
                </a:solidFill>
                <a:latin typeface="Batang"/>
                <a:ea typeface="Batang"/>
              </a:rPr>
              <a:t>Très rapide à exécuter</a:t>
            </a:r>
          </a:p>
          <a:p>
            <a:r>
              <a:rPr lang="fr-FR" sz="1800" b="1" dirty="0">
                <a:solidFill>
                  <a:schemeClr val="bg1"/>
                </a:solidFill>
                <a:latin typeface="Batang"/>
                <a:ea typeface="Batang"/>
              </a:rPr>
              <a:t>Simple à écrire</a:t>
            </a:r>
          </a:p>
          <a:p>
            <a:r>
              <a:rPr lang="fr-FR" sz="1800" b="1" dirty="0">
                <a:solidFill>
                  <a:schemeClr val="bg1"/>
                </a:solidFill>
                <a:latin typeface="Batang"/>
                <a:ea typeface="Batang"/>
              </a:rPr>
              <a:t>Fonctionne bien quand l'ordre des colonnes est connu</a:t>
            </a:r>
          </a:p>
          <a:p>
            <a:r>
              <a:rPr lang="fr-FR" sz="1800" b="1" dirty="0">
                <a:solidFill>
                  <a:srgbClr val="FF0000"/>
                </a:solidFill>
                <a:latin typeface="Batang"/>
                <a:ea typeface="Batang"/>
              </a:rPr>
              <a:t>Attention : </a:t>
            </a:r>
            <a:r>
              <a:rPr lang="fr-FR" sz="1800" b="1" dirty="0">
                <a:solidFill>
                  <a:schemeClr val="bg1"/>
                </a:solidFill>
                <a:latin typeface="Batang"/>
                <a:ea typeface="Batang"/>
              </a:rPr>
              <a:t>Si l'ordre change alors on ne peut pas utiliser cette méthode</a:t>
            </a:r>
          </a:p>
          <a:p>
            <a:endParaRPr lang="fr-FR" sz="2400">
              <a:solidFill>
                <a:srgbClr val="FFFFFF">
                  <a:alpha val="80000"/>
                </a:srgb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Image 3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65BE55FD-65ED-DF0A-7530-60FF03845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32" y="1852817"/>
            <a:ext cx="4369112" cy="237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71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26848D-9D44-7693-3D11-72C5CFD5D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086"/>
            <a:ext cx="4391024" cy="953022"/>
          </a:xfrm>
        </p:spPr>
        <p:txBody>
          <a:bodyPr anchor="t">
            <a:norm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Les méthodes d'extraction des données réalisée.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63D8FA-3AF2-1D9B-0D56-D5CE185C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5733"/>
            <a:ext cx="4391024" cy="46662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Extraction par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découpage de chaînes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Les données à extraire sont contenues dans une chaîne de caractères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On utilise la fonction 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split()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pour couper la chaîne en morceaux selon un séparateur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Le séparateur peut être un espace 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" "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, un deux-points 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":"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, ou n’importe quel caractère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split()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retourne une liste de sous-chaînes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On récupère ensuite les morceaux utiles par leur index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7E7BEB0-6A70-CB4F-6370-7F5F13DD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32" y="2153741"/>
            <a:ext cx="4369112" cy="184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6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CA955F-EE41-C82B-A2BC-404C4B425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419"/>
            <a:ext cx="4391024" cy="1238772"/>
          </a:xfrm>
        </p:spPr>
        <p:txBody>
          <a:bodyPr anchor="t">
            <a:norm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Les méthodes d'extraction des données réalisée.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sz="280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C9A789-06F6-A936-45B2-EAF33D950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58484"/>
            <a:ext cx="4391024" cy="30787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600" b="1" err="1">
                <a:solidFill>
                  <a:srgbClr val="FF0000">
                    <a:alpha val="80000"/>
                  </a:srgbClr>
                </a:solidFill>
                <a:latin typeface="Batang"/>
                <a:ea typeface="Batang"/>
              </a:rPr>
              <a:t>date_str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contient la date et l’heure sous forme de texte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On utilise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Batang"/>
              </a:rPr>
              <a:t>split(" ")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pour séparer la chaîne en deux parties : dates et heures</a:t>
            </a:r>
          </a:p>
          <a:p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L’index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Batang"/>
              </a:rPr>
              <a:t>[0]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permet de récupérer uniquement la date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La valeur extraite est stockée dans la variable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Batang"/>
              </a:rPr>
              <a:t>jour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Cette valeur est ensuite utilisée pour regrouper les données par jour</a:t>
            </a:r>
            <a:endParaRPr lang="fr-FR" sz="1600" b="1" dirty="0">
              <a:solidFill>
                <a:schemeClr val="bg1">
                  <a:alpha val="80000"/>
                </a:schemeClr>
              </a:solidFill>
              <a:latin typeface="Batang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Image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2DB3645F-061D-36F8-EBD8-A86707DC2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43" b="5357"/>
          <a:stretch>
            <a:fillRect/>
          </a:stretch>
        </p:blipFill>
        <p:spPr>
          <a:xfrm>
            <a:off x="6541932" y="1992212"/>
            <a:ext cx="4379719" cy="238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0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79E8098-B244-D2F2-AD26-67AF1B69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fr-FR" sz="2800" b="1" dirty="0">
                <a:solidFill>
                  <a:srgbClr val="FF0000"/>
                </a:solidFill>
              </a:rPr>
              <a:t>Les méthodes d'extraction des données réalisée.</a:t>
            </a:r>
            <a:endParaRPr lang="fr-FR" sz="28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67E905-4E92-0FB1-B703-879631D79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Pour la longitude et la longitude méthode par </a:t>
            </a:r>
            <a:r>
              <a:rPr lang="fr-FR" sz="2000" b="1" dirty="0">
                <a:solidFill>
                  <a:srgbClr val="FF0000">
                    <a:alpha val="80000"/>
                  </a:srgbClr>
                </a:solidFill>
                <a:latin typeface="Batang"/>
                <a:ea typeface="Batang"/>
              </a:rPr>
              <a:t>découpage de chaîne</a:t>
            </a:r>
            <a:r>
              <a:rPr lang="fr-FR" sz="20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 aussi.</a:t>
            </a:r>
          </a:p>
          <a:p>
            <a:r>
              <a:rPr lang="fr-FR" sz="20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Coupe la position GPS en </a:t>
            </a:r>
            <a:r>
              <a:rPr lang="fr-FR" sz="20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deux valeurs</a:t>
            </a:r>
            <a:endParaRPr lang="fr-FR" sz="2000" b="1">
              <a:solidFill>
                <a:srgbClr val="FF0000">
                  <a:alpha val="80000"/>
                </a:srgbClr>
              </a:solidFill>
              <a:latin typeface="Batang"/>
              <a:ea typeface="+mn-lt"/>
              <a:cs typeface="+mn-lt"/>
            </a:endParaRPr>
          </a:p>
          <a:p>
            <a:r>
              <a:rPr lang="fr-FR" sz="20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Associe la première à la </a:t>
            </a:r>
            <a:r>
              <a:rPr lang="fr-FR" sz="20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latitude</a:t>
            </a:r>
            <a:r>
              <a:rPr lang="fr-FR" sz="20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, la seconde à la </a:t>
            </a:r>
            <a:r>
              <a:rPr lang="fr-FR" sz="20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longitude</a:t>
            </a:r>
            <a:endParaRPr lang="fr-FR" sz="2000">
              <a:solidFill>
                <a:srgbClr val="FF0000">
                  <a:alpha val="80000"/>
                </a:srgbClr>
              </a:solidFill>
              <a:latin typeface="Batang"/>
              <a:ea typeface="Batang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Image 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B798BF5-88EE-E956-0D15-829DE5A9E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32" y="2182545"/>
            <a:ext cx="4369112" cy="168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7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3BB876-D893-7BE1-1F65-482AD55C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0919"/>
            <a:ext cx="4391025" cy="1069439"/>
          </a:xfrm>
        </p:spPr>
        <p:txBody>
          <a:bodyPr anchor="t">
            <a:normAutofit/>
          </a:bodyPr>
          <a:lstStyle/>
          <a:p>
            <a:r>
              <a:rPr lang="fr-FR" sz="3100" b="1" dirty="0">
                <a:solidFill>
                  <a:srgbClr val="FF0000"/>
                </a:solidFill>
              </a:rPr>
              <a:t>La structure du site web et ses fonctionnalités.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1C2FAC-4E1C-B4FB-B764-077903395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1650"/>
            <a:ext cx="4391025" cy="36290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Montrer à quels moments de la journée les excès de vitesse sont les plus importants en moyenne</a:t>
            </a:r>
          </a:p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Permettre de comparer les comportements de conduite selon l’heure</a:t>
            </a:r>
          </a:p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Les données sont extraites du fichier CSV des radars</a:t>
            </a:r>
          </a:p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Pour chaque mesure : On récupère l’heure et On calcule l’excès</a:t>
            </a:r>
          </a:p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Les excès sont ensuite regroupés par plage horaire</a:t>
            </a:r>
          </a:p>
          <a:p>
            <a:r>
              <a:rPr lang="fr-FR" sz="1800" b="1" dirty="0">
                <a:solidFill>
                  <a:schemeClr val="bg1">
                    <a:alpha val="80000"/>
                  </a:schemeClr>
                </a:solidFill>
                <a:latin typeface="Batang"/>
                <a:ea typeface="Batang"/>
              </a:rPr>
              <a:t>On calcule ensuite la moyenne des excès pour chaque tranche 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9E27CA2-D252-28D4-2B15-8CAFA739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710062"/>
            <a:ext cx="5260976" cy="354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0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3AD41DB-DF9F-49BC-85AE-6AB1840A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613962-118C-7736-55FA-12010B72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17" y="4669978"/>
            <a:ext cx="3565524" cy="1173700"/>
          </a:xfrm>
        </p:spPr>
        <p:txBody>
          <a:bodyPr anchor="t">
            <a:normAutofit/>
          </a:bodyPr>
          <a:lstStyle/>
          <a:p>
            <a:pPr algn="ctr"/>
            <a:r>
              <a:rPr lang="fr-FR" sz="2000" b="1" dirty="0">
                <a:solidFill>
                  <a:srgbClr val="FF0000"/>
                </a:solidFill>
              </a:rPr>
              <a:t>La structure du site web et ses fonctionnalités.</a:t>
            </a:r>
            <a:endParaRPr lang="fr-FR" sz="2000" dirty="0">
              <a:solidFill>
                <a:srgbClr val="FF0000"/>
              </a:solidFill>
            </a:endParaRPr>
          </a:p>
        </p:txBody>
      </p:sp>
      <p:pic>
        <p:nvPicPr>
          <p:cNvPr id="4" name="Image 3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E24E68CE-501D-7D1C-8CF1-A85640076B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34" b="20724"/>
          <a:stretch>
            <a:fillRect/>
          </a:stretch>
        </p:blipFill>
        <p:spPr>
          <a:xfrm>
            <a:off x="20" y="-1"/>
            <a:ext cx="12191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id="{A4AE1828-51FD-4AD7-BCF6-9AF5C696C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542C7CD-02BE-4ADE-8D2F-DFB759D71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40A04EE-8E37-4C28-B09B-A9593A4AAB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82D123-8EED-6B83-89F2-E0D389561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785" y="4151395"/>
            <a:ext cx="7333190" cy="16922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Mettre en évidence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les vitesses les plus extrêmes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enregistrées par les radars</a:t>
            </a:r>
          </a:p>
          <a:p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Localiser les zones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où les excès sont les plus importants</a:t>
            </a:r>
          </a:p>
          <a:p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Sensibiliser à la dangerosité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de ces comportements</a:t>
            </a:r>
          </a:p>
          <a:p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Les données sont triées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selon la vitesse mesurée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Les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10 valeurs les plus élevées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sont sélectionnées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Pour chaque valeur, on extrait la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latitude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, la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longitude</a:t>
            </a:r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 et la 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vitesse</a:t>
            </a:r>
          </a:p>
          <a:p>
            <a:r>
              <a:rPr lang="fr-FR" sz="1600" b="1" dirty="0">
                <a:solidFill>
                  <a:schemeClr val="bg1">
                    <a:alpha val="80000"/>
                  </a:schemeClr>
                </a:solidFill>
                <a:latin typeface="Batang"/>
                <a:ea typeface="+mn-lt"/>
                <a:cs typeface="+mn-lt"/>
              </a:rPr>
              <a:t>Ces informations sont affichées dans le</a:t>
            </a:r>
            <a:r>
              <a:rPr lang="fr-FR" sz="1600" b="1" dirty="0">
                <a:solidFill>
                  <a:srgbClr val="FF0000">
                    <a:alpha val="80000"/>
                  </a:srgbClr>
                </a:solidFill>
                <a:latin typeface="Batang"/>
                <a:ea typeface="+mn-lt"/>
                <a:cs typeface="+mn-lt"/>
              </a:rPr>
              <a:t> tableau HTML</a:t>
            </a:r>
            <a:endParaRPr lang="fr-FR" sz="1600" b="1">
              <a:solidFill>
                <a:srgbClr val="FF0000">
                  <a:alpha val="80000"/>
                </a:srgbClr>
              </a:solidFill>
              <a:latin typeface="Batang"/>
              <a:ea typeface="Batang"/>
            </a:endParaRPr>
          </a:p>
        </p:txBody>
      </p:sp>
    </p:spTree>
    <p:extLst>
      <p:ext uri="{BB962C8B-B14F-4D97-AF65-F5344CB8AC3E}">
        <p14:creationId xmlns:p14="http://schemas.microsoft.com/office/powerpoint/2010/main" val="937097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192CF2A-6962-4D9E-5695-361EB3097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fr-FR" sz="3500" b="1" dirty="0">
                <a:solidFill>
                  <a:srgbClr val="FF0000"/>
                </a:solidFill>
                <a:latin typeface="Aptos Display"/>
                <a:ea typeface="+mj-lt"/>
                <a:cs typeface="+mj-lt"/>
              </a:rPr>
              <a:t>La structure du site web et ses fonctionnalités.</a:t>
            </a:r>
            <a:endParaRPr lang="fr-FR" sz="3500">
              <a:solidFill>
                <a:srgbClr val="FFFFFF"/>
              </a:solidFill>
              <a:latin typeface="Aptos Display"/>
              <a:ea typeface="+mj-lt"/>
              <a:cs typeface="+mj-lt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EB784D-45DB-813C-FD4D-5C8383AF8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Visualiser comment les excès de vitesse sont répartis au fil des jours</a:t>
            </a: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Comparer le volume d’infractions d’un jour à l’autre</a:t>
            </a: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Identifier les journées les plus problématiques</a:t>
            </a:r>
            <a:endParaRPr lang="fr-FR" sz="1600" b="1">
              <a:solidFill>
                <a:schemeClr val="bg1"/>
              </a:solidFill>
              <a:latin typeface="Batang"/>
              <a:ea typeface="Batang"/>
            </a:endParaRP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Les données sont extraites du fichier CSV</a:t>
            </a: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Pour chaque mesure, on récupère la date (jour)</a:t>
            </a: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On compte le nombre d’excès par jour</a:t>
            </a:r>
          </a:p>
          <a:p>
            <a:r>
              <a:rPr lang="fr-FR" sz="16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On envoie ces totaux au graphique sous forme de parts</a:t>
            </a:r>
            <a:endParaRPr lang="fr-FR" sz="1600" b="1" dirty="0">
              <a:solidFill>
                <a:schemeClr val="bg1"/>
              </a:solidFill>
              <a:latin typeface="Batang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Une image contenant texte, diagramme, capture d’écran, Caractère coloré&#10;&#10;Le contenu généré par l’IA peut être incorrect.">
            <a:extLst>
              <a:ext uri="{FF2B5EF4-FFF2-40B4-BE49-F238E27FC236}">
                <a16:creationId xmlns:a16="http://schemas.microsoft.com/office/drawing/2014/main" id="{0D60E619-BC25-80D0-03E3-5467FA29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53" y="1374876"/>
            <a:ext cx="5666547" cy="410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6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8BE399-E12E-DEE8-1966-FF4C15838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fr-FR" sz="3500" b="1" dirty="0">
                <a:solidFill>
                  <a:srgbClr val="FF0000"/>
                </a:solidFill>
              </a:rPr>
              <a:t>La structure du site web et ses fonctionnalités.</a:t>
            </a:r>
            <a:endParaRPr lang="fr-FR" sz="350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48F1BA-FA26-695A-39AE-E968C9CE0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Comparer les excès de vitesse selon la limite autorisée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Identifier sur quels types de routes les excès sont les plus importants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Mettre en évidence le comportement des conducteurs selon la limitation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Les données sont extraites du fichier CSV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Pour chaque mesure : On récupère la limite de vitesse et on calcul l'excès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Les excès sont regroupés par limite</a:t>
            </a:r>
          </a:p>
          <a:p>
            <a:r>
              <a:rPr lang="fr-FR" sz="17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On calcule la moyenne pour chaque limite</a:t>
            </a:r>
            <a:endParaRPr lang="fr-FR" sz="1700" b="1" dirty="0">
              <a:solidFill>
                <a:schemeClr val="bg1"/>
              </a:solidFill>
              <a:latin typeface="Batang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 descr="Une image contenant texte, capture d’écran, Tracé, ligne">
            <a:extLst>
              <a:ext uri="{FF2B5EF4-FFF2-40B4-BE49-F238E27FC236}">
                <a16:creationId xmlns:a16="http://schemas.microsoft.com/office/drawing/2014/main" id="{114D4D27-E99E-9684-96D3-C38821D51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90" y="1720326"/>
            <a:ext cx="5666547" cy="326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6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DB2E3B-0DD5-A08A-16BE-7217592F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fr-FR" sz="2700" b="1" dirty="0">
                <a:solidFill>
                  <a:srgbClr val="FF0000"/>
                </a:solidFill>
                <a:latin typeface="Batang"/>
                <a:ea typeface="Batang"/>
              </a:rPr>
              <a:t>Compte rendu des difficultés principales rencontrées.</a:t>
            </a:r>
            <a:endParaRPr lang="fr-FR" sz="270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A77148-47BA-7048-9959-98229B6CD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Le format de la date contenait à la fois le jour et l’heure dans une seule chaîne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Cela compliquait l’extraction de l’heure et du jour séparément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La plage “21h01–00h” ne rentrait pas dans un simple intervalle numérique</a:t>
            </a:r>
          </a:p>
          <a:p>
            <a:r>
              <a:rPr lang="fr-FR" sz="2000" b="1" dirty="0">
                <a:solidFill>
                  <a:schemeClr val="bg1"/>
                </a:solidFill>
                <a:latin typeface="Batang"/>
                <a:ea typeface="+mn-lt"/>
                <a:cs typeface="+mn-lt"/>
              </a:rPr>
              <a:t>Il a fallu ajouter une condition spéciale pour inclure l’heure 0 dans cette tranche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 3" descr="Le compte rendu de réunion, un document à ne pas négliger">
            <a:extLst>
              <a:ext uri="{FF2B5EF4-FFF2-40B4-BE49-F238E27FC236}">
                <a16:creationId xmlns:a16="http://schemas.microsoft.com/office/drawing/2014/main" id="{971548F8-1BDE-E207-5004-FC1EFE9FF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90" y="1530707"/>
            <a:ext cx="5666547" cy="37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7932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SAE 15 : Traiter des données</vt:lpstr>
      <vt:lpstr>Sommaire</vt:lpstr>
      <vt:lpstr>Les motivations de notre choix</vt:lpstr>
      <vt:lpstr>Les méthodes d'extraction des données réalisée.</vt:lpstr>
      <vt:lpstr>Les méthodes d'extraction des données réalisée. </vt:lpstr>
      <vt:lpstr>Les méthodes d'extraction des données réalisée. </vt:lpstr>
      <vt:lpstr>Les méthodes d'extraction des données réalisée.</vt:lpstr>
      <vt:lpstr>La structure du site web et ses fonctionnalités.</vt:lpstr>
      <vt:lpstr>La structure du site web et ses fonctionnalités.</vt:lpstr>
      <vt:lpstr>La structure du site web et ses fonctionnalités.</vt:lpstr>
      <vt:lpstr>La structure du site web et ses fonctionnalités.</vt:lpstr>
      <vt:lpstr>Compte rendu des difficultés principales rencontrées.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250</cp:revision>
  <dcterms:created xsi:type="dcterms:W3CDTF">2026-01-02T10:56:24Z</dcterms:created>
  <dcterms:modified xsi:type="dcterms:W3CDTF">2026-01-03T13:14:55Z</dcterms:modified>
</cp:coreProperties>
</file>